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72" r:id="rId7"/>
    <p:sldId id="262" r:id="rId8"/>
    <p:sldId id="260" r:id="rId9"/>
    <p:sldId id="264" r:id="rId10"/>
    <p:sldId id="265" r:id="rId11"/>
    <p:sldId id="263" r:id="rId12"/>
    <p:sldId id="267" r:id="rId13"/>
    <p:sldId id="270" r:id="rId14"/>
    <p:sldId id="271" r:id="rId15"/>
    <p:sldId id="276" r:id="rId16"/>
    <p:sldId id="268" r:id="rId17"/>
    <p:sldId id="269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867" autoAdjust="0"/>
  </p:normalViewPr>
  <p:slideViewPr>
    <p:cSldViewPr snapToGrid="0">
      <p:cViewPr varScale="1">
        <p:scale>
          <a:sx n="107" d="100"/>
          <a:sy n="107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0B957-2089-4B29-BE01-D0063806FA09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18AAE-F045-478B-A109-28036C0AD4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58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Backup link: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386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490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332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4965-61C7-9A3F-5A27-806C1653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D086F-85D2-829F-0F11-4359BCB07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0A90A-E125-1C00-3B39-95BB0B0FE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Discuss mechanics from a design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65FE4-BD88-19C2-CE68-D8555FF33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54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53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 quote is from the V1 playtest before the form went live.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Second quote is from V-2.0.B playtest w/ Niel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 quote is an answer to the question on the physical components.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39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315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18AAE-F045-478B-A109-28036C0AD45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1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36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08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4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31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87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5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74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53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852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3289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946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220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019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164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2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24523A8-5DEB-47FC-AF15-828D22D6671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1C31F3F-5471-4E47-9A28-590559C3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93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CB58-3BAB-4687-44DE-E0D67250C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“Realm”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10546-015B-3C27-838D-EBDA2066C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799" y="2881223"/>
            <a:ext cx="9144000" cy="1567178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Group 8 – PIGDE – Oral assessment</a:t>
            </a:r>
          </a:p>
          <a:p>
            <a:r>
              <a:rPr lang="en-GB" dirty="0"/>
              <a:t>UP2260587 - Finley Hanham </a:t>
            </a:r>
          </a:p>
          <a:p>
            <a:r>
              <a:rPr lang="en-GB" dirty="0"/>
              <a:t>UP2278088 -  Hritesh Lama</a:t>
            </a:r>
          </a:p>
          <a:p>
            <a:r>
              <a:rPr lang="en-GB" dirty="0"/>
              <a:t> UP2277517 - Dylan </a:t>
            </a:r>
            <a:r>
              <a:rPr lang="en-GB" dirty="0" err="1"/>
              <a:t>Veeroo</a:t>
            </a:r>
            <a:endParaRPr lang="en-GB" dirty="0"/>
          </a:p>
          <a:p>
            <a:r>
              <a:rPr lang="en-GB" dirty="0"/>
              <a:t> UP2267728 - Skye Wasko</a:t>
            </a:r>
          </a:p>
        </p:txBody>
      </p:sp>
    </p:spTree>
    <p:extLst>
      <p:ext uri="{BB962C8B-B14F-4D97-AF65-F5344CB8AC3E}">
        <p14:creationId xmlns:p14="http://schemas.microsoft.com/office/powerpoint/2010/main" val="513731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142-030D-F2BC-22DC-0A8E2E746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CAF31-24FC-E3C7-1303-BDD719CFA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refresher as to what “Realm” is.</a:t>
            </a:r>
          </a:p>
        </p:txBody>
      </p:sp>
    </p:spTree>
    <p:extLst>
      <p:ext uri="{BB962C8B-B14F-4D97-AF65-F5344CB8AC3E}">
        <p14:creationId xmlns:p14="http://schemas.microsoft.com/office/powerpoint/2010/main" val="331570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0ADF-408C-50AE-5B32-3D9D3FBC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admin before we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E627B-6F6C-A232-5464-435DF6735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Most slides contain references to project documentation where it has not been suitable to copy all the information.</a:t>
            </a:r>
          </a:p>
          <a:p>
            <a:pPr marL="0" indent="0">
              <a:buNone/>
            </a:pPr>
            <a:r>
              <a:rPr lang="en-GB" dirty="0"/>
              <a:t>Slides will be tagged with a ‘bookmark’ and file / folder where this happens.</a:t>
            </a:r>
          </a:p>
          <a:p>
            <a:pPr marL="0" indent="0">
              <a:buNone/>
            </a:pPr>
            <a:r>
              <a:rPr lang="en-GB" dirty="0"/>
              <a:t>These bookmarks are also colour coded to aid with navigation. </a:t>
            </a:r>
          </a:p>
          <a:p>
            <a:pPr lvl="1"/>
            <a:r>
              <a:rPr lang="en-GB" dirty="0"/>
              <a:t>Pink -&gt; Internal team communications (Sections 1 &amp; 2)</a:t>
            </a:r>
          </a:p>
          <a:p>
            <a:pPr lvl="1"/>
            <a:r>
              <a:rPr lang="en-GB" dirty="0"/>
              <a:t>Black -&gt; Research and analytical documents (Sections 2 &amp; 3)</a:t>
            </a:r>
          </a:p>
          <a:p>
            <a:pPr lvl="1"/>
            <a:r>
              <a:rPr lang="en-GB" dirty="0"/>
              <a:t>Blue -&gt; Information regarding playtests (Sections 4 &amp; 5)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4DC8F9-8EE1-9A1E-F3C8-28EB30A1E53F}"/>
              </a:ext>
            </a:extLst>
          </p:cNvPr>
          <p:cNvSpPr/>
          <p:nvPr/>
        </p:nvSpPr>
        <p:spPr>
          <a:xfrm>
            <a:off x="1260907" y="5629325"/>
            <a:ext cx="345703" cy="328713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6223C4-E23D-22AA-AC68-90BAA32291D7}"/>
              </a:ext>
            </a:extLst>
          </p:cNvPr>
          <p:cNvSpPr/>
          <p:nvPr/>
        </p:nvSpPr>
        <p:spPr>
          <a:xfrm>
            <a:off x="1260908" y="4857758"/>
            <a:ext cx="345703" cy="328713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2D0DF4-34A0-3962-1BD9-7FC0DDAA02B8}"/>
              </a:ext>
            </a:extLst>
          </p:cNvPr>
          <p:cNvSpPr/>
          <p:nvPr/>
        </p:nvSpPr>
        <p:spPr>
          <a:xfrm>
            <a:off x="1260906" y="5246043"/>
            <a:ext cx="345703" cy="32871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9319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74C6-106B-17F5-CF33-ED73C104C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Preparing for</a:t>
            </a:r>
            <a:br>
              <a:rPr lang="en-GB" sz="6000" dirty="0"/>
            </a:br>
            <a:r>
              <a:rPr lang="en-GB" sz="6000" dirty="0"/>
              <a:t>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DCFE6-5503-B6B9-B778-B5E1A3482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Versions V-0.1.A through V-1.0.A</a:t>
            </a:r>
          </a:p>
        </p:txBody>
      </p:sp>
    </p:spTree>
    <p:extLst>
      <p:ext uri="{BB962C8B-B14F-4D97-AF65-F5344CB8AC3E}">
        <p14:creationId xmlns:p14="http://schemas.microsoft.com/office/powerpoint/2010/main" val="76436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FEA6-2C8E-6BEB-24EF-4C637B89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DNA of 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32506-F71F-89E7-C6F8-F1206B39E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1" y="1825625"/>
            <a:ext cx="6060446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Version 0 of the game revolved around a few key features:</a:t>
            </a:r>
          </a:p>
          <a:p>
            <a:pPr lvl="1"/>
            <a:r>
              <a:rPr lang="en-GB" sz="2000" dirty="0"/>
              <a:t>Build structures to gain resources</a:t>
            </a:r>
          </a:p>
          <a:p>
            <a:pPr lvl="1"/>
            <a:r>
              <a:rPr lang="en-GB" sz="2000" dirty="0"/>
              <a:t>Upgrade structures to win</a:t>
            </a:r>
          </a:p>
          <a:p>
            <a:pPr lvl="1"/>
            <a:r>
              <a:rPr lang="en-GB" sz="2000" dirty="0"/>
              <a:t>Skills modify individual gameplay</a:t>
            </a:r>
          </a:p>
          <a:p>
            <a:pPr lvl="1"/>
            <a:r>
              <a:rPr lang="en-GB" sz="2000" dirty="0"/>
              <a:t>Compact board to encourage PvP</a:t>
            </a:r>
          </a:p>
          <a:p>
            <a:endParaRPr lang="en-GB" dirty="0"/>
          </a:p>
        </p:txBody>
      </p:sp>
      <p:pic>
        <p:nvPicPr>
          <p:cNvPr id="9" name="Picture 8" descr="A board game with different colored objects&#10;&#10;AI-generated content may be incorrect.">
            <a:extLst>
              <a:ext uri="{FF2B5EF4-FFF2-40B4-BE49-F238E27FC236}">
                <a16:creationId xmlns:a16="http://schemas.microsoft.com/office/drawing/2014/main" id="{2A9F457A-751F-99BE-738A-0CD152401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578" y="2107932"/>
            <a:ext cx="4610167" cy="345194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960483-FCDC-B34D-3DFE-7299EC14BC02}"/>
              </a:ext>
            </a:extLst>
          </p:cNvPr>
          <p:cNvGrpSpPr/>
          <p:nvPr/>
        </p:nvGrpSpPr>
        <p:grpSpPr>
          <a:xfrm>
            <a:off x="9130474" y="6441421"/>
            <a:ext cx="3169102" cy="488297"/>
            <a:chOff x="9130474" y="6441421"/>
            <a:chExt cx="3169102" cy="48829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0F0805D-AC63-79A9-F830-ECA8C33306FA}"/>
                </a:ext>
              </a:extLst>
            </p:cNvPr>
            <p:cNvSpPr/>
            <p:nvPr/>
          </p:nvSpPr>
          <p:spPr>
            <a:xfrm>
              <a:off x="9672917" y="6441421"/>
              <a:ext cx="2626659" cy="48829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CF7A65-C6E9-CDF2-EEC8-7B7021FEC887}"/>
                </a:ext>
              </a:extLst>
            </p:cNvPr>
            <p:cNvSpPr txBox="1"/>
            <p:nvPr/>
          </p:nvSpPr>
          <p:spPr>
            <a:xfrm>
              <a:off x="9130474" y="6473077"/>
              <a:ext cx="3028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dirty="0"/>
                <a:t>Patch notes – Realm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10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B264-24B9-0D21-F9C8-86BB28EE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D644A3E6-58EE-D4BD-0FC4-279A21756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578" y="1825625"/>
            <a:ext cx="4610167" cy="4014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C3AC1-8256-BDEB-0F29-0C7C9B8E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DNA of 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22A7-16AA-14B9-501C-D8169B0C5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1" y="1825625"/>
            <a:ext cx="6060446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Version 0 of the game revolved around a few key features:</a:t>
            </a:r>
          </a:p>
          <a:p>
            <a:pPr lvl="1"/>
            <a:r>
              <a:rPr lang="en-GB" sz="2000" dirty="0"/>
              <a:t>Build structures to gain resources</a:t>
            </a:r>
          </a:p>
          <a:p>
            <a:pPr lvl="1"/>
            <a:r>
              <a:rPr lang="en-GB" sz="2000" dirty="0"/>
              <a:t>Upgrade structures to win</a:t>
            </a:r>
          </a:p>
          <a:p>
            <a:pPr lvl="1"/>
            <a:r>
              <a:rPr lang="en-GB" sz="2000" dirty="0"/>
              <a:t>Skills modify individual gameplay</a:t>
            </a:r>
          </a:p>
          <a:p>
            <a:pPr lvl="1"/>
            <a:r>
              <a:rPr lang="en-GB" sz="2000" dirty="0"/>
              <a:t>Compact board to encourage PvP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747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CB6F-13FF-9F7B-0189-82CCB3D6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264F-131B-7DF1-F0AC-54DAE901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Conversion to analogue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65E2-4965-41CB-1E39-27D70CE29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1" y="1825625"/>
            <a:ext cx="6060446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Aims for components:</a:t>
            </a:r>
          </a:p>
          <a:p>
            <a:pPr lvl="1"/>
            <a:r>
              <a:rPr lang="en-GB" sz="1800" dirty="0"/>
              <a:t>Minimal components</a:t>
            </a:r>
          </a:p>
          <a:p>
            <a:pPr lvl="1"/>
            <a:r>
              <a:rPr lang="en-GB" sz="1800" dirty="0"/>
              <a:t>Can be damaged</a:t>
            </a:r>
          </a:p>
          <a:p>
            <a:pPr lvl="1"/>
            <a:r>
              <a:rPr lang="en-GB" sz="1800" dirty="0"/>
              <a:t>Most adaptable</a:t>
            </a:r>
          </a:p>
          <a:p>
            <a:pPr lvl="1"/>
            <a:r>
              <a:rPr lang="en-GB" sz="1800" dirty="0"/>
              <a:t>Compromises</a:t>
            </a:r>
          </a:p>
          <a:p>
            <a:pPr marL="0" indent="0">
              <a:buNone/>
            </a:pPr>
            <a:r>
              <a:rPr lang="en-GB" dirty="0"/>
              <a:t>Compromises:</a:t>
            </a:r>
          </a:p>
          <a:p>
            <a:pPr lvl="1"/>
            <a:r>
              <a:rPr lang="en-GB" sz="1800" dirty="0"/>
              <a:t>Relies on honesty</a:t>
            </a:r>
          </a:p>
          <a:p>
            <a:pPr lvl="1"/>
            <a:r>
              <a:rPr lang="en-GB" sz="1800" dirty="0"/>
              <a:t>Confusing base visuals</a:t>
            </a:r>
          </a:p>
          <a:p>
            <a:pPr lvl="1"/>
            <a:r>
              <a:rPr lang="en-GB" sz="1800" dirty="0"/>
              <a:t>Finicky to handle</a:t>
            </a:r>
          </a:p>
          <a:p>
            <a:pPr lvl="1"/>
            <a:r>
              <a:rPr lang="en-GB" sz="1800" dirty="0"/>
              <a:t>Easy to forget skill claims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game board with a dice and pieces of chess on it&#10;&#10;AI-generated content may be incorrect.">
            <a:extLst>
              <a:ext uri="{FF2B5EF4-FFF2-40B4-BE49-F238E27FC236}">
                <a16:creationId xmlns:a16="http://schemas.microsoft.com/office/drawing/2014/main" id="{E8C5282C-F477-C8D6-DEBA-6F5FAA986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13" b="31347"/>
          <a:stretch>
            <a:fillRect/>
          </a:stretch>
        </p:blipFill>
        <p:spPr>
          <a:xfrm>
            <a:off x="7821011" y="2110901"/>
            <a:ext cx="4143673" cy="344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26DC-A68F-317B-F708-08CCC232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from existing 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3508D-C949-2DA8-C24F-7623ABBA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634" y="1690688"/>
            <a:ext cx="2713672" cy="771524"/>
          </a:xfrm>
        </p:spPr>
        <p:txBody>
          <a:bodyPr anchor="t"/>
          <a:lstStyle/>
          <a:p>
            <a:r>
              <a:rPr lang="en-GB" dirty="0"/>
              <a:t>Cartographers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22327-BC33-E38C-D1FE-3982B262A4E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00150" y="2571750"/>
            <a:ext cx="2695700" cy="3589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(</a:t>
            </a:r>
            <a:r>
              <a:rPr lang="en-GB" dirty="0" err="1"/>
              <a:t>Thunderworks</a:t>
            </a:r>
            <a:r>
              <a:rPr lang="en-GB" dirty="0"/>
              <a:t> Games, 2019)</a:t>
            </a:r>
          </a:p>
          <a:p>
            <a:pPr fontAlgn="base"/>
            <a:r>
              <a:rPr lang="en-GB" sz="1300" b="1" i="1" dirty="0">
                <a:latin typeface="Nebula Sans Bold" pitchFamily="50" charset="0"/>
              </a:rPr>
              <a:t>Simultaneous play:</a:t>
            </a:r>
            <a:r>
              <a:rPr lang="en-GB" dirty="0"/>
              <a:t> All players respond to the same cards, reducing downtime and increasing engagement.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Puzzle-like placement:</a:t>
            </a:r>
            <a:r>
              <a:rPr lang="en-GB" dirty="0"/>
              <a:t> Maximizing points requires careful planning and adapting to obstacles.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Dynamic card system:</a:t>
            </a:r>
            <a:r>
              <a:rPr lang="en-GB" dirty="0"/>
              <a:t> </a:t>
            </a:r>
          </a:p>
          <a:p>
            <a:pPr fontAlgn="base">
              <a:spcBef>
                <a:spcPts val="0"/>
              </a:spcBef>
            </a:pPr>
            <a:r>
              <a:rPr lang="en-GB" dirty="0"/>
              <a:t>Terrain and monster cards create variable challenges and strategies.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Roleplay</a:t>
            </a:r>
            <a:r>
              <a:rPr lang="en-GB" i="1" dirty="0">
                <a:latin typeface="Nebula Sans Bold" pitchFamily="50" charset="0"/>
              </a:rPr>
              <a:t> as royal cartographers:</a:t>
            </a:r>
            <a:r>
              <a:rPr lang="en-GB" dirty="0"/>
              <a:t> The theme of mapping the kingdom for the queen is tightly integrated into gameplay.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A89F1-DDAB-629D-BDCA-84FE87CCF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46335" y="1690688"/>
            <a:ext cx="2703887" cy="771524"/>
          </a:xfrm>
        </p:spPr>
        <p:txBody>
          <a:bodyPr anchor="t"/>
          <a:lstStyle/>
          <a:p>
            <a:r>
              <a:rPr lang="en-GB" dirty="0"/>
              <a:t>Tiny Towns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DD3DE5-8A10-D076-104C-99B6C8330E7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335782" y="2571750"/>
            <a:ext cx="2713605" cy="3589338"/>
          </a:xfrm>
        </p:spPr>
        <p:txBody>
          <a:bodyPr/>
          <a:lstStyle/>
          <a:p>
            <a:r>
              <a:rPr lang="en-GB" dirty="0"/>
              <a:t>(</a:t>
            </a:r>
            <a:r>
              <a:rPr lang="en-GB" b="1" dirty="0" err="1"/>
              <a:t>Alderac</a:t>
            </a:r>
            <a:r>
              <a:rPr lang="en-GB" b="1" dirty="0"/>
              <a:t> Entertainment Group, 2019)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Highly </a:t>
            </a:r>
            <a:r>
              <a:rPr lang="en-GB" b="1" i="1" dirty="0" err="1">
                <a:latin typeface="Nebula Sans Bold" pitchFamily="50" charset="0"/>
              </a:rPr>
              <a:t>replayable</a:t>
            </a:r>
            <a:r>
              <a:rPr lang="en-GB" b="1" i="1" dirty="0">
                <a:latin typeface="Nebula Sans Bold" pitchFamily="50" charset="0"/>
              </a:rPr>
              <a:t>:</a:t>
            </a:r>
            <a:r>
              <a:rPr lang="en-GB" dirty="0"/>
              <a:t> Every game is different due to changing resource choices and player decisions.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Multiple scoring paths:</a:t>
            </a:r>
            <a:r>
              <a:rPr lang="en-GB" dirty="0"/>
              <a:t> Different buildings and bonuses create varied strategies for winning.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Resource pattern matching: </a:t>
            </a:r>
            <a:r>
              <a:rPr lang="en-GB" dirty="0"/>
              <a:t>Buildings require specific combinations of resources, adding puzzle-like strategy.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B27AC5-A0AF-AB8D-982E-A629931EE6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9319" y="1692543"/>
            <a:ext cx="2700086" cy="771524"/>
          </a:xfrm>
        </p:spPr>
        <p:txBody>
          <a:bodyPr/>
          <a:lstStyle/>
          <a:p>
            <a:r>
              <a:rPr lang="en-GB" dirty="0"/>
              <a:t>My City: Build and Roll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253204-F770-7F39-0CDD-4AF2BBC4084D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189319" y="2573605"/>
            <a:ext cx="2700086" cy="3589338"/>
          </a:xfrm>
        </p:spPr>
        <p:txBody>
          <a:bodyPr/>
          <a:lstStyle/>
          <a:p>
            <a:r>
              <a:rPr lang="en-GB" dirty="0"/>
              <a:t>(KOSMOS, 2022)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Competitive yet personal:</a:t>
            </a:r>
            <a:r>
              <a:rPr lang="en-GB" dirty="0"/>
              <a:t> Players build their own city boards simultaneously, creating unique experiences for each player.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City-building theme:</a:t>
            </a:r>
            <a:r>
              <a:rPr lang="en-GB" i="1" dirty="0">
                <a:latin typeface="Nebula Sans Bold" pitchFamily="50" charset="0"/>
              </a:rPr>
              <a:t> </a:t>
            </a:r>
            <a:r>
              <a:rPr lang="en-GB" dirty="0"/>
              <a:t> Strong focus on urban planning, balancing growth, rivers, and obstacles.</a:t>
            </a:r>
          </a:p>
          <a:p>
            <a:r>
              <a:rPr lang="en-GB" b="1" i="1" dirty="0">
                <a:latin typeface="Nebula Sans Bold" pitchFamily="50" charset="0"/>
              </a:rPr>
              <a:t>Dice-driven building:</a:t>
            </a:r>
            <a:r>
              <a:rPr lang="en-GB" i="1" dirty="0"/>
              <a:t> </a:t>
            </a:r>
            <a:r>
              <a:rPr lang="en-GB" dirty="0"/>
              <a:t>Instead of fixed tiles, dice determine building shapes, adding randomness and </a:t>
            </a:r>
            <a:r>
              <a:rPr lang="en-GB" dirty="0" err="1"/>
              <a:t>replayability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16E37B7-BFFF-89F9-1099-FDB1321EC9B9}"/>
              </a:ext>
            </a:extLst>
          </p:cNvPr>
          <p:cNvSpPr txBox="1">
            <a:spLocks/>
          </p:cNvSpPr>
          <p:nvPr/>
        </p:nvSpPr>
        <p:spPr>
          <a:xfrm>
            <a:off x="9079562" y="1690688"/>
            <a:ext cx="2700086" cy="7715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kern="120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Risk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679BF60-DA71-FB94-6A9C-4A4E4B969BA8}"/>
              </a:ext>
            </a:extLst>
          </p:cNvPr>
          <p:cNvSpPr txBox="1">
            <a:spLocks/>
          </p:cNvSpPr>
          <p:nvPr/>
        </p:nvSpPr>
        <p:spPr>
          <a:xfrm>
            <a:off x="9079562" y="2571750"/>
            <a:ext cx="2700086" cy="358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(Hasbro, 1957)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Global conquest theme:</a:t>
            </a:r>
            <a:r>
              <a:rPr lang="en-GB" i="1" dirty="0">
                <a:latin typeface="Nebula Sans Bold" pitchFamily="50" charset="0"/>
              </a:rPr>
              <a:t> </a:t>
            </a:r>
            <a:r>
              <a:rPr lang="en-GB" dirty="0"/>
              <a:t>simulate world domination and military strategy on a global scale.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Dice-based combat:</a:t>
            </a:r>
            <a:r>
              <a:rPr lang="en-GB" i="1" dirty="0">
                <a:latin typeface="Nebula Sans Bold" pitchFamily="50" charset="0"/>
              </a:rPr>
              <a:t> </a:t>
            </a:r>
            <a:r>
              <a:rPr lang="en-GB" dirty="0"/>
              <a:t>Introduce  strategic planning, balancing luck and skill.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Territory control mechanics:</a:t>
            </a:r>
            <a:r>
              <a:rPr lang="en-GB" dirty="0"/>
              <a:t> Strategic placement and movement of armies</a:t>
            </a:r>
          </a:p>
          <a:p>
            <a:pPr fontAlgn="base"/>
            <a:r>
              <a:rPr lang="en-GB" b="1" i="1" dirty="0">
                <a:latin typeface="Nebula Sans Bold" pitchFamily="50" charset="0"/>
              </a:rPr>
              <a:t>High player interaction:</a:t>
            </a:r>
            <a:r>
              <a:rPr lang="en-GB" i="1" dirty="0">
                <a:latin typeface="Nebula Sans Bold" pitchFamily="50" charset="0"/>
              </a:rPr>
              <a:t> </a:t>
            </a:r>
            <a:r>
              <a:rPr lang="en-GB" dirty="0"/>
              <a:t>Direct attacks, alliances, and competition make PvP tense and engaging.</a:t>
            </a:r>
          </a:p>
          <a:p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011862-7590-0156-7292-EDBDB1488515}"/>
              </a:ext>
            </a:extLst>
          </p:cNvPr>
          <p:cNvSpPr/>
          <p:nvPr/>
        </p:nvSpPr>
        <p:spPr>
          <a:xfrm>
            <a:off x="8772737" y="6441422"/>
            <a:ext cx="3540006" cy="50622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09A61-D26B-83AA-126A-E7088767B2C8}"/>
              </a:ext>
            </a:extLst>
          </p:cNvPr>
          <p:cNvSpPr txBox="1"/>
          <p:nvPr/>
        </p:nvSpPr>
        <p:spPr>
          <a:xfrm>
            <a:off x="8552598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RESEARCH – Existing titles</a:t>
            </a:r>
          </a:p>
        </p:txBody>
      </p:sp>
    </p:spTree>
    <p:extLst>
      <p:ext uri="{BB962C8B-B14F-4D97-AF65-F5344CB8AC3E}">
        <p14:creationId xmlns:p14="http://schemas.microsoft.com/office/powerpoint/2010/main" val="102884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0577-F497-A7E0-BCFF-6B7A5785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Preparing for player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9461-725F-D709-C8F6-7A6E87A4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MS Forms</a:t>
            </a:r>
            <a:r>
              <a:rPr lang="en-GB" dirty="0"/>
              <a:t> selected for ease of use, integration with other software such as </a:t>
            </a:r>
            <a:r>
              <a:rPr lang="en-GB" i="1" dirty="0"/>
              <a:t>Excel </a:t>
            </a:r>
            <a:r>
              <a:rPr lang="en-GB" dirty="0"/>
              <a:t>and built in QR code sharing option.</a:t>
            </a:r>
          </a:p>
          <a:p>
            <a:pPr marL="0" indent="0">
              <a:buNone/>
            </a:pPr>
            <a:r>
              <a:rPr lang="en-GB" dirty="0"/>
              <a:t>Initially written such that it was impractical to use given length.</a:t>
            </a:r>
          </a:p>
          <a:p>
            <a:pPr marL="0" indent="0">
              <a:buNone/>
            </a:pPr>
            <a:r>
              <a:rPr lang="en-GB" dirty="0"/>
              <a:t>Rewritten to be shorter, less leading and to try and gain more pertinent data.</a:t>
            </a:r>
          </a:p>
          <a:p>
            <a:pPr marL="0" indent="0">
              <a:buNone/>
            </a:pPr>
            <a:endParaRPr lang="en-GB" i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465AE8-03FE-64BB-FC81-0F3BEB38ECB2}"/>
              </a:ext>
            </a:extLst>
          </p:cNvPr>
          <p:cNvSpPr/>
          <p:nvPr/>
        </p:nvSpPr>
        <p:spPr>
          <a:xfrm>
            <a:off x="9672917" y="6441422"/>
            <a:ext cx="2639826" cy="5062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49311-695B-322E-BB0C-11E83925B24E}"/>
              </a:ext>
            </a:extLst>
          </p:cNvPr>
          <p:cNvSpPr txBox="1"/>
          <p:nvPr/>
        </p:nvSpPr>
        <p:spPr>
          <a:xfrm>
            <a:off x="8552598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MS Form (Folder)</a:t>
            </a:r>
          </a:p>
        </p:txBody>
      </p:sp>
    </p:spTree>
    <p:extLst>
      <p:ext uri="{BB962C8B-B14F-4D97-AF65-F5344CB8AC3E}">
        <p14:creationId xmlns:p14="http://schemas.microsoft.com/office/powerpoint/2010/main" val="67878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A615-C71B-94C9-D270-CF285162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Preparing for player feedback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D70013-C6C9-8C88-85A7-770F09CD925B}"/>
              </a:ext>
            </a:extLst>
          </p:cNvPr>
          <p:cNvGrpSpPr/>
          <p:nvPr/>
        </p:nvGrpSpPr>
        <p:grpSpPr>
          <a:xfrm>
            <a:off x="900763" y="1690526"/>
            <a:ext cx="5448877" cy="4827633"/>
            <a:chOff x="5847667" y="1690526"/>
            <a:chExt cx="5448877" cy="48276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26CEED5-166A-38E1-CB34-3CA3E4639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00" r="52144"/>
            <a:stretch>
              <a:fillRect/>
            </a:stretch>
          </p:blipFill>
          <p:spPr>
            <a:xfrm>
              <a:off x="5847667" y="1690526"/>
              <a:ext cx="2557112" cy="182881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697D9F-DF79-DBEF-0B93-5A8CD3BA1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833"/>
            <a:stretch>
              <a:fillRect/>
            </a:stretch>
          </p:blipFill>
          <p:spPr>
            <a:xfrm>
              <a:off x="5847667" y="3526876"/>
              <a:ext cx="2557112" cy="1667576"/>
            </a:xfrm>
            <a:prstGeom prst="rect">
              <a:avLst/>
            </a:prstGeom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DE9BDA4-A9AE-098E-F043-F6CDD85E3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9432" y="1690526"/>
              <a:ext cx="2557112" cy="1976059"/>
            </a:xfrm>
            <a:prstGeom prst="rect">
              <a:avLst/>
            </a:prstGeom>
          </p:spPr>
        </p:pic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F99B02D-B289-3CA0-0D26-2C64BB212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9432" y="3631051"/>
              <a:ext cx="2557112" cy="2047126"/>
            </a:xfrm>
            <a:prstGeom prst="rect">
              <a:avLst/>
            </a:prstGeom>
          </p:spPr>
        </p:pic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79D4282-CACF-234D-9DE3-709BF8152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9432" y="5678177"/>
              <a:ext cx="2557112" cy="83998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ED265C-6E2D-E81C-15CB-7C8FAEBCAE06}"/>
              </a:ext>
            </a:extLst>
          </p:cNvPr>
          <p:cNvGrpSpPr/>
          <p:nvPr/>
        </p:nvGrpSpPr>
        <p:grpSpPr>
          <a:xfrm>
            <a:off x="7690316" y="1690688"/>
            <a:ext cx="3850552" cy="4323378"/>
            <a:chOff x="695156" y="1690688"/>
            <a:chExt cx="3850552" cy="4323378"/>
          </a:xfrm>
        </p:grpSpPr>
        <p:pic>
          <p:nvPicPr>
            <p:cNvPr id="8" name="Picture 7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6C445F66-2943-BDBB-C012-F8CF1F4E2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5157" y="1690688"/>
              <a:ext cx="1753828" cy="1828814"/>
            </a:xfrm>
            <a:prstGeom prst="rect">
              <a:avLst/>
            </a:prstGeom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7D78BDC-5E31-60BD-6CC6-CA399D58D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5156" y="3519502"/>
              <a:ext cx="1753828" cy="1342006"/>
            </a:xfrm>
            <a:prstGeom prst="rect">
              <a:avLst/>
            </a:prstGeom>
          </p:spPr>
        </p:pic>
        <p:pic>
          <p:nvPicPr>
            <p:cNvPr id="10" name="Picture 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17D0994-3E08-F54A-F3F0-9DB1DA5A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5156" y="4861508"/>
              <a:ext cx="1748013" cy="1008146"/>
            </a:xfrm>
            <a:prstGeom prst="rect">
              <a:avLst/>
            </a:prstGeom>
          </p:spPr>
        </p:pic>
        <p:pic>
          <p:nvPicPr>
            <p:cNvPr id="11" name="Picture 10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1190454-4BB3-6C80-350B-5B1E01619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453" y="1690688"/>
              <a:ext cx="1756255" cy="1559330"/>
            </a:xfrm>
            <a:prstGeom prst="rect">
              <a:avLst/>
            </a:prstGeom>
          </p:spPr>
        </p:pic>
        <p:pic>
          <p:nvPicPr>
            <p:cNvPr id="12" name="Picture 1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07F21EB-FAC6-FD78-6491-4B32E9DA4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89453" y="3250018"/>
              <a:ext cx="1756255" cy="1504484"/>
            </a:xfrm>
            <a:prstGeom prst="rect">
              <a:avLst/>
            </a:prstGeom>
          </p:spPr>
        </p:pic>
        <p:pic>
          <p:nvPicPr>
            <p:cNvPr id="13" name="Picture 1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3F7D2FC-D7D2-324E-F21C-4FFF2DD8A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89454" y="4754503"/>
              <a:ext cx="1748012" cy="805660"/>
            </a:xfrm>
            <a:prstGeom prst="rect">
              <a:avLst/>
            </a:prstGeom>
          </p:spPr>
        </p:pic>
        <p:pic>
          <p:nvPicPr>
            <p:cNvPr id="14" name="Picture 1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DD64A68-0887-8931-7FC3-529C0272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89453" y="5552949"/>
              <a:ext cx="1756255" cy="461117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CD7543-32B6-1F68-596F-613423EA9696}"/>
              </a:ext>
            </a:extLst>
          </p:cNvPr>
          <p:cNvSpPr/>
          <p:nvPr/>
        </p:nvSpPr>
        <p:spPr>
          <a:xfrm>
            <a:off x="9672917" y="6441422"/>
            <a:ext cx="2639826" cy="50622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F47626-8130-E4A1-1714-0F9A22175E77}"/>
              </a:ext>
            </a:extLst>
          </p:cNvPr>
          <p:cNvSpPr txBox="1"/>
          <p:nvPr/>
        </p:nvSpPr>
        <p:spPr>
          <a:xfrm>
            <a:off x="8552598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MS Form (Folder)</a:t>
            </a:r>
          </a:p>
        </p:txBody>
      </p:sp>
    </p:spTree>
    <p:extLst>
      <p:ext uri="{BB962C8B-B14F-4D97-AF65-F5344CB8AC3E}">
        <p14:creationId xmlns:p14="http://schemas.microsoft.com/office/powerpoint/2010/main" val="479457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9539-FF15-51CA-A647-ADBA2A759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Reworking</a:t>
            </a:r>
            <a:br>
              <a:rPr lang="en-GB" sz="6000" dirty="0"/>
            </a:br>
            <a:r>
              <a:rPr lang="en-GB" sz="6000" dirty="0"/>
              <a:t>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B8817-3BD3-5940-16E6-D38BF2C73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Versions V-2.0.A through V-4.1.A</a:t>
            </a:r>
          </a:p>
        </p:txBody>
      </p:sp>
    </p:spTree>
    <p:extLst>
      <p:ext uri="{BB962C8B-B14F-4D97-AF65-F5344CB8AC3E}">
        <p14:creationId xmlns:p14="http://schemas.microsoft.com/office/powerpoint/2010/main" val="341276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E7D2-1FD3-B1EE-15EC-786E77F2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5CAB-CB74-8533-7495-8EC565ED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Aimed at bringing systems into roughly the right ballpark and identify more complex issues.</a:t>
            </a:r>
          </a:p>
          <a:p>
            <a:pPr marL="0" indent="0">
              <a:buNone/>
            </a:pPr>
            <a:r>
              <a:rPr lang="en-GB" dirty="0"/>
              <a:t>Hallmark change: win condition reduced from 3VP to 1VP. (3 cities to 1)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Skills rework given they were defining strategy rather than supporting strategies.</a:t>
            </a:r>
          </a:p>
          <a:p>
            <a:pPr marL="0" indent="0">
              <a:buNone/>
            </a:pPr>
            <a:r>
              <a:rPr lang="en-GB" dirty="0"/>
              <a:t>Resource production timings changed to try and ensure all turns have meaning.</a:t>
            </a:r>
          </a:p>
          <a:p>
            <a:pPr marL="0" indent="0">
              <a:buNone/>
            </a:pPr>
            <a:r>
              <a:rPr lang="en-GB" dirty="0"/>
              <a:t>Flagged the combat and trading systems for further review.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4BA9B0-CE80-C6C7-0333-79508D5ACB84}"/>
              </a:ext>
            </a:extLst>
          </p:cNvPr>
          <p:cNvGrpSpPr/>
          <p:nvPr/>
        </p:nvGrpSpPr>
        <p:grpSpPr>
          <a:xfrm>
            <a:off x="9130474" y="6441421"/>
            <a:ext cx="3169102" cy="488297"/>
            <a:chOff x="9130474" y="6441421"/>
            <a:chExt cx="3169102" cy="4882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F8CA297-E040-F5F1-EAE1-14BC778DFDA9}"/>
                </a:ext>
              </a:extLst>
            </p:cNvPr>
            <p:cNvSpPr/>
            <p:nvPr/>
          </p:nvSpPr>
          <p:spPr>
            <a:xfrm>
              <a:off x="9672917" y="6441421"/>
              <a:ext cx="2626659" cy="48829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749ECB-C7F6-D21F-F27C-D338409456AF}"/>
                </a:ext>
              </a:extLst>
            </p:cNvPr>
            <p:cNvSpPr txBox="1"/>
            <p:nvPr/>
          </p:nvSpPr>
          <p:spPr>
            <a:xfrm>
              <a:off x="9130474" y="6473077"/>
              <a:ext cx="3028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dirty="0"/>
                <a:t>Patch notes – Realm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302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2150-051A-7A4B-87EA-DF34345F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Removing limiting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9005-0EBE-D093-2CF4-94806CE8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 get to the next stage of testing, a couple of obstacles had to be removed:</a:t>
            </a:r>
          </a:p>
          <a:p>
            <a:pPr lvl="1"/>
            <a:r>
              <a:rPr lang="en-GB" sz="2200" dirty="0"/>
              <a:t>Physical components are not intuitive</a:t>
            </a:r>
          </a:p>
          <a:p>
            <a:pPr lvl="1"/>
            <a:r>
              <a:rPr lang="en-GB" sz="2200" dirty="0"/>
              <a:t>Components are not reusable</a:t>
            </a:r>
          </a:p>
          <a:p>
            <a:pPr lvl="1"/>
            <a:r>
              <a:rPr lang="en-GB" sz="2200" dirty="0"/>
              <a:t>Full aggression is a dominating strategy reducing playtest variance</a:t>
            </a:r>
          </a:p>
          <a:p>
            <a:pPr marL="0" indent="0">
              <a:buNone/>
            </a:pPr>
            <a:r>
              <a:rPr lang="en-GB" dirty="0"/>
              <a:t>Example feedback (from non-team play testers):</a:t>
            </a:r>
          </a:p>
          <a:p>
            <a:pPr marL="0" indent="0">
              <a:buNone/>
            </a:pPr>
            <a:r>
              <a:rPr lang="en-GB" sz="2000" dirty="0"/>
              <a:t>“With the pieces and such, it will be a lot easier to understand.”</a:t>
            </a:r>
          </a:p>
          <a:p>
            <a:pPr marL="0" indent="0">
              <a:buNone/>
            </a:pPr>
            <a:r>
              <a:rPr lang="en-GB" sz="2000" dirty="0"/>
              <a:t>“Currently trading seems to be a weak strategy.”</a:t>
            </a:r>
          </a:p>
          <a:p>
            <a:pPr marL="0" indent="0">
              <a:buNone/>
            </a:pPr>
            <a:r>
              <a:rPr lang="en-GB" sz="2000" dirty="0"/>
              <a:t>“Not much honestly If they were  </a:t>
            </a:r>
            <a:r>
              <a:rPr lang="en-GB" sz="2000" dirty="0" err="1"/>
              <a:t>abit</a:t>
            </a:r>
            <a:r>
              <a:rPr lang="en-GB" sz="2000" dirty="0"/>
              <a:t> heavier it might feel nicer but the thicker card was very usable.”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3CD900-3A5E-2B47-8ACF-61C35C40F7D6}"/>
              </a:ext>
            </a:extLst>
          </p:cNvPr>
          <p:cNvGrpSpPr/>
          <p:nvPr/>
        </p:nvGrpSpPr>
        <p:grpSpPr>
          <a:xfrm>
            <a:off x="9130474" y="6441421"/>
            <a:ext cx="3169102" cy="488297"/>
            <a:chOff x="9130474" y="6441421"/>
            <a:chExt cx="3169102" cy="48829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C5EF11B-461B-52A3-0476-1E40DA05F83F}"/>
                </a:ext>
              </a:extLst>
            </p:cNvPr>
            <p:cNvSpPr/>
            <p:nvPr/>
          </p:nvSpPr>
          <p:spPr>
            <a:xfrm>
              <a:off x="9672917" y="6441421"/>
              <a:ext cx="2626659" cy="48829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D65E5A-DB13-E2B9-2ACF-5B5C3F2B435E}"/>
                </a:ext>
              </a:extLst>
            </p:cNvPr>
            <p:cNvSpPr txBox="1"/>
            <p:nvPr/>
          </p:nvSpPr>
          <p:spPr>
            <a:xfrm>
              <a:off x="9130474" y="6473077"/>
              <a:ext cx="3028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dirty="0"/>
                <a:t>Patch notes – Realm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3FC6F0-2FC3-8646-236D-905A5CEDBE01}"/>
              </a:ext>
            </a:extLst>
          </p:cNvPr>
          <p:cNvSpPr/>
          <p:nvPr/>
        </p:nvSpPr>
        <p:spPr>
          <a:xfrm>
            <a:off x="4814051" y="6441420"/>
            <a:ext cx="5047126" cy="4882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5A6BA-31C2-480C-C9BA-7005100CA9CE}"/>
              </a:ext>
            </a:extLst>
          </p:cNvPr>
          <p:cNvSpPr txBox="1"/>
          <p:nvPr/>
        </p:nvSpPr>
        <p:spPr>
          <a:xfrm>
            <a:off x="4898321" y="6473076"/>
            <a:ext cx="4962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RESPONSES - Game prototype feedback form</a:t>
            </a:r>
          </a:p>
        </p:txBody>
      </p:sp>
    </p:spTree>
    <p:extLst>
      <p:ext uri="{BB962C8B-B14F-4D97-AF65-F5344CB8AC3E}">
        <p14:creationId xmlns:p14="http://schemas.microsoft.com/office/powerpoint/2010/main" val="329075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992CC5-B3FF-8BB7-197B-74759317E56C}"/>
              </a:ext>
            </a:extLst>
          </p:cNvPr>
          <p:cNvSpPr/>
          <p:nvPr/>
        </p:nvSpPr>
        <p:spPr>
          <a:xfrm>
            <a:off x="9278471" y="6441422"/>
            <a:ext cx="3034272" cy="50622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11D00-D110-D226-FDE1-DD60E8CE290A}"/>
              </a:ext>
            </a:extLst>
          </p:cNvPr>
          <p:cNvSpPr txBox="1"/>
          <p:nvPr/>
        </p:nvSpPr>
        <p:spPr>
          <a:xfrm>
            <a:off x="8552598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RESEARCH – PVP styles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C086AE-2F53-03DB-5A14-A46F31208C49}"/>
              </a:ext>
            </a:extLst>
          </p:cNvPr>
          <p:cNvSpPr/>
          <p:nvPr/>
        </p:nvSpPr>
        <p:spPr>
          <a:xfrm>
            <a:off x="6096000" y="6441422"/>
            <a:ext cx="3348037" cy="50622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5EBC8-194D-26E7-5561-39A184B22FBF}"/>
              </a:ext>
            </a:extLst>
          </p:cNvPr>
          <p:cNvSpPr txBox="1"/>
          <p:nvPr/>
        </p:nvSpPr>
        <p:spPr>
          <a:xfrm>
            <a:off x="5755086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RESEARCH – Pressure points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6E19D-C60A-0305-7FC9-7B2D1846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Researching for solutions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265DE-EF8D-DE4A-E4A8-2931ED4AA699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77780-432F-0F73-C0C2-902589459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2000" dirty="0"/>
              <a:t>Improving resource management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959C3-3A7F-46BA-569A-E1E5EF0E12C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415501-9AA7-C7FE-8B21-8B0C6EBD74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/>
              <a:t>Improving game accessibility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629D6B-1ECE-B9AB-DE74-E6F997CA16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835E1C6-4F21-6323-91FE-920BF64A3048}"/>
              </a:ext>
            </a:extLst>
          </p:cNvPr>
          <p:cNvSpPr txBox="1">
            <a:spLocks/>
          </p:cNvSpPr>
          <p:nvPr/>
        </p:nvSpPr>
        <p:spPr>
          <a:xfrm>
            <a:off x="1346953" y="1885950"/>
            <a:ext cx="2936241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kern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Improving player vs player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232599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455447-70B8-2F75-38D6-88E10E0DD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77" y="750770"/>
            <a:ext cx="2424751" cy="3229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7AF692-656F-948E-469B-8F29CEDC1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6134"/>
            <a:ext cx="3017387" cy="4018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A7D961-A622-D848-DA50-789F56FC5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428" y="3180342"/>
            <a:ext cx="2476705" cy="3302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774AD3-4E5C-54BA-8580-5F98F72A6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434" y="3253339"/>
            <a:ext cx="2479562" cy="330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9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BCA3-C4C9-3ADD-906A-82A95BD8F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Game level</a:t>
            </a:r>
            <a:br>
              <a:rPr lang="en-GB" sz="6000" dirty="0"/>
            </a:br>
            <a:r>
              <a:rPr lang="en-GB" sz="6000" dirty="0"/>
              <a:t>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BDBB5-B86C-2CD6-58AD-4F8CD3D42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Version V-5.0.A through V-7.0.A</a:t>
            </a:r>
          </a:p>
        </p:txBody>
      </p:sp>
    </p:spTree>
    <p:extLst>
      <p:ext uri="{BB962C8B-B14F-4D97-AF65-F5344CB8AC3E}">
        <p14:creationId xmlns:p14="http://schemas.microsoft.com/office/powerpoint/2010/main" val="126046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92F5-447E-BA79-82E0-BA914284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Persistent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D5C23-8A33-34D0-6E95-6492F8E7A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22622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Resources</a:t>
            </a:r>
          </a:p>
          <a:p>
            <a:pPr lvl="1"/>
            <a:r>
              <a:rPr lang="en-GB" sz="2200" dirty="0"/>
              <a:t>Tracking resources is difficult without physical tokens</a:t>
            </a:r>
          </a:p>
          <a:p>
            <a:pPr lvl="1"/>
            <a:r>
              <a:rPr lang="en-GB" sz="2200" dirty="0"/>
              <a:t>Prone to large swings in amounts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CF530-0144-9863-C2AD-35D9A4369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22622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Combat dominance</a:t>
            </a:r>
          </a:p>
          <a:p>
            <a:pPr lvl="1"/>
            <a:r>
              <a:rPr lang="en-GB" sz="2200" dirty="0"/>
              <a:t>Maintained dominance despite nerfs</a:t>
            </a:r>
          </a:p>
          <a:p>
            <a:pPr lvl="1"/>
            <a:r>
              <a:rPr lang="en-GB" sz="2200" dirty="0"/>
              <a:t>Still lacking proper checks against snowballing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552404-14BD-CA02-A209-89825690EC89}"/>
              </a:ext>
            </a:extLst>
          </p:cNvPr>
          <p:cNvSpPr txBox="1">
            <a:spLocks/>
          </p:cNvSpPr>
          <p:nvPr/>
        </p:nvSpPr>
        <p:spPr>
          <a:xfrm>
            <a:off x="6328584" y="4087906"/>
            <a:ext cx="5025216" cy="22622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Forest generation</a:t>
            </a:r>
          </a:p>
          <a:p>
            <a:pPr lvl="1"/>
            <a:r>
              <a:rPr lang="en-GB" dirty="0"/>
              <a:t>Randomness too volatile, causing issues too frequently</a:t>
            </a:r>
          </a:p>
          <a:p>
            <a:pPr lvl="1"/>
            <a:r>
              <a:rPr lang="en-GB" dirty="0"/>
              <a:t>Reducing numbers for smaller games limits incentive for expansion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352965C-B9A2-BA62-6C45-967C5FCC4A7B}"/>
              </a:ext>
            </a:extLst>
          </p:cNvPr>
          <p:cNvSpPr txBox="1">
            <a:spLocks/>
          </p:cNvSpPr>
          <p:nvPr/>
        </p:nvSpPr>
        <p:spPr>
          <a:xfrm>
            <a:off x="1120000" y="4087905"/>
            <a:ext cx="5033960" cy="22622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2 player stalemates</a:t>
            </a:r>
          </a:p>
          <a:p>
            <a:pPr lvl="1"/>
            <a:r>
              <a:rPr lang="en-GB" sz="2200" dirty="0"/>
              <a:t>Actions feel binary in nature (helps either you or your opponent)</a:t>
            </a:r>
          </a:p>
          <a:p>
            <a:pPr lvl="1"/>
            <a:r>
              <a:rPr lang="en-GB" sz="2200" dirty="0"/>
              <a:t>Ripe for uncontrolled positive feedback loops</a:t>
            </a:r>
          </a:p>
          <a:p>
            <a:pPr lvl="1"/>
            <a:r>
              <a:rPr lang="en-GB" sz="2200" dirty="0"/>
              <a:t>Transient in nature</a:t>
            </a:r>
          </a:p>
        </p:txBody>
      </p:sp>
    </p:spTree>
    <p:extLst>
      <p:ext uri="{BB962C8B-B14F-4D97-AF65-F5344CB8AC3E}">
        <p14:creationId xmlns:p14="http://schemas.microsoft.com/office/powerpoint/2010/main" val="2277916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85B-80BA-213C-81E6-F0E04195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Economy rework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B9E9-28F7-0B15-F396-40092462E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427014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Three elements up for review:</a:t>
            </a:r>
          </a:p>
          <a:p>
            <a:r>
              <a:rPr lang="en-GB" sz="2000" dirty="0"/>
              <a:t>Resource tracking</a:t>
            </a:r>
          </a:p>
          <a:p>
            <a:r>
              <a:rPr lang="en-GB" sz="2000" dirty="0"/>
              <a:t>Source &amp; sink rates of use</a:t>
            </a:r>
          </a:p>
          <a:p>
            <a:r>
              <a:rPr lang="en-GB" sz="2000" dirty="0"/>
              <a:t>Immutability of resource types</a:t>
            </a:r>
          </a:p>
          <a:p>
            <a:pPr marL="0" indent="0">
              <a:buNone/>
            </a:pPr>
            <a:r>
              <a:rPr lang="en-GB" dirty="0"/>
              <a:t>Strategy was to explore an expanded set of options and then focus back in on selected areas.</a:t>
            </a:r>
          </a:p>
        </p:txBody>
      </p:sp>
      <p:pic>
        <p:nvPicPr>
          <p:cNvPr id="6" name="Content Placeholder 5" descr="A piece of paper with writing on it&#10;&#10;AI-generated content may be incorrect.">
            <a:extLst>
              <a:ext uri="{FF2B5EF4-FFF2-40B4-BE49-F238E27FC236}">
                <a16:creationId xmlns:a16="http://schemas.microsoft.com/office/drawing/2014/main" id="{DD00CE6F-C792-4FE5-8C51-488D96B5A0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993" y="1825624"/>
            <a:ext cx="3263503" cy="4351338"/>
          </a:xfrm>
        </p:spPr>
      </p:pic>
      <p:pic>
        <p:nvPicPr>
          <p:cNvPr id="8" name="Picture 7" descr="A piece of paper with writing on it&#10;&#10;AI-generated content may be incorrect.">
            <a:extLst>
              <a:ext uri="{FF2B5EF4-FFF2-40B4-BE49-F238E27FC236}">
                <a16:creationId xmlns:a16="http://schemas.microsoft.com/office/drawing/2014/main" id="{E8FBA5BE-3630-534A-3C58-B59F48D1B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496" y="1825624"/>
            <a:ext cx="3263504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36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66D2-8719-1554-692A-B493F167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Economy Rework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AFCE7-0804-5DAA-C858-E12A8C53C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88A548-2775-DFFF-64A7-D15457F08946}"/>
              </a:ext>
            </a:extLst>
          </p:cNvPr>
          <p:cNvSpPr/>
          <p:nvPr/>
        </p:nvSpPr>
        <p:spPr>
          <a:xfrm>
            <a:off x="8772737" y="6441422"/>
            <a:ext cx="3540006" cy="50622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2F2B7-0729-82EA-BDCC-6B50F7999A00}"/>
              </a:ext>
            </a:extLst>
          </p:cNvPr>
          <p:cNvSpPr txBox="1"/>
          <p:nvPr/>
        </p:nvSpPr>
        <p:spPr>
          <a:xfrm>
            <a:off x="8552598" y="6479709"/>
            <a:ext cx="3540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Economy Rework (Folder)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CAD80E-3DC6-B595-D072-125C209B0FFC}"/>
              </a:ext>
            </a:extLst>
          </p:cNvPr>
          <p:cNvSpPr/>
          <p:nvPr/>
        </p:nvSpPr>
        <p:spPr>
          <a:xfrm>
            <a:off x="6598025" y="6437544"/>
            <a:ext cx="2618868" cy="4882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591AA-C1CC-58F2-7C20-E79C8B8DBD04}"/>
              </a:ext>
            </a:extLst>
          </p:cNvPr>
          <p:cNvSpPr txBox="1"/>
          <p:nvPr/>
        </p:nvSpPr>
        <p:spPr>
          <a:xfrm>
            <a:off x="6047790" y="6469200"/>
            <a:ext cx="302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Patch notes – Realm</a:t>
            </a:r>
          </a:p>
        </p:txBody>
      </p:sp>
    </p:spTree>
    <p:extLst>
      <p:ext uri="{BB962C8B-B14F-4D97-AF65-F5344CB8AC3E}">
        <p14:creationId xmlns:p14="http://schemas.microsoft.com/office/powerpoint/2010/main" val="4286325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A2E6-8921-60A2-EAD4-0677AE3F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Trying to prevent stalemates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D6A9-896E-CAB3-B152-C269D767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52408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Nebula Sans Black"/>
        <a:ea typeface=""/>
        <a:cs typeface=""/>
      </a:majorFont>
      <a:minorFont>
        <a:latin typeface="Nebula Sans Semibold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268</TotalTime>
  <Words>970</Words>
  <Application>Microsoft Office PowerPoint</Application>
  <PresentationFormat>Widescreen</PresentationFormat>
  <Paragraphs>139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Nebula Sans Black</vt:lpstr>
      <vt:lpstr>Nebula Sans Bold</vt:lpstr>
      <vt:lpstr>Nebula Sans Semibold</vt:lpstr>
      <vt:lpstr>Depth</vt:lpstr>
      <vt:lpstr>“Realm”</vt:lpstr>
      <vt:lpstr>Video</vt:lpstr>
      <vt:lpstr>Some admin before we start</vt:lpstr>
      <vt:lpstr>Preparing for development</vt:lpstr>
      <vt:lpstr>Core DNA of the game</vt:lpstr>
      <vt:lpstr>Core DNA of the game</vt:lpstr>
      <vt:lpstr>Conversion to analogue</vt:lpstr>
      <vt:lpstr>Learning from existing titles</vt:lpstr>
      <vt:lpstr>Preparing for player feedback</vt:lpstr>
      <vt:lpstr>Preparing for player feedback</vt:lpstr>
      <vt:lpstr>Reworking Systems</vt:lpstr>
      <vt:lpstr>Rapid testing</vt:lpstr>
      <vt:lpstr>Removing limiting factors</vt:lpstr>
      <vt:lpstr>Researching for solutions</vt:lpstr>
      <vt:lpstr>PowerPoint Presentation</vt:lpstr>
      <vt:lpstr>Game level Considerations</vt:lpstr>
      <vt:lpstr>Persistent issues</vt:lpstr>
      <vt:lpstr>Economy rework</vt:lpstr>
      <vt:lpstr>Economy Rework</vt:lpstr>
      <vt:lpstr>Trying to prevent stalemates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Skye Wasko</dc:creator>
  <cp:lastModifiedBy>Skye Wasko</cp:lastModifiedBy>
  <cp:revision>9</cp:revision>
  <dcterms:created xsi:type="dcterms:W3CDTF">2026-01-04T20:14:38Z</dcterms:created>
  <dcterms:modified xsi:type="dcterms:W3CDTF">2026-01-05T15:15:23Z</dcterms:modified>
</cp:coreProperties>
</file>